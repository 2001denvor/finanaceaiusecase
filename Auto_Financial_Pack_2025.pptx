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0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Q1 2025</c:v>
                </c:pt>
                <c:pt idx="3">
                  <c:v>Q2 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1000000</c:v>
                </c:pt>
                <c:pt idx="1">
                  <c:v>1100000</c:v>
                </c:pt>
                <c:pt idx="2">
                  <c:v>1300000</c:v>
                </c:pt>
                <c:pt idx="3">
                  <c:v>1400000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Q1 2025</c:v>
                </c:pt>
                <c:pt idx="3">
                  <c:v>Q2 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500000</c:v>
                </c:pt>
                <c:pt idx="1">
                  <c:v>565000</c:v>
                </c:pt>
                <c:pt idx="2">
                  <c:v>710000</c:v>
                </c:pt>
                <c:pt idx="3">
                  <c:v>775000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Profit After Tax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Q1 2025</c:v>
                </c:pt>
                <c:pt idx="3">
                  <c:v>Q2 2025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360000</c:v>
                </c:pt>
                <c:pt idx="1">
                  <c:v>418000</c:v>
                </c:pt>
                <c:pt idx="2">
                  <c:v>540000</c:v>
                </c:pt>
                <c:pt idx="3">
                  <c:v>590000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YOY Growth %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Q1</c:v>
                </c:pt>
                <c:pt idx="3">
                  <c:v>Q2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30.0</c:v>
                </c:pt>
                <c:pt idx="3">
                  <c:v>27.27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Sheet1!$A$2:$A$17</c:f>
              <c:strCache>
                <c:ptCount val="16"/>
                <c:pt idx="0">
                  <c:v>Revenue</c:v>
                </c:pt>
                <c:pt idx="1">
                  <c:v>Tax</c:v>
                </c:pt>
                <c:pt idx="2">
                  <c:v>Opex</c:v>
                </c:pt>
                <c:pt idx="3">
                  <c:v>Depreciation</c:v>
                </c:pt>
                <c:pt idx="4">
                  <c:v>Depreciation</c:v>
                </c:pt>
                <c:pt idx="5">
                  <c:v>Tax</c:v>
                </c:pt>
                <c:pt idx="6">
                  <c:v>Revenue</c:v>
                </c:pt>
                <c:pt idx="7">
                  <c:v>Opex</c:v>
                </c:pt>
                <c:pt idx="8">
                  <c:v>Opex</c:v>
                </c:pt>
                <c:pt idx="9">
                  <c:v>Depreciation</c:v>
                </c:pt>
                <c:pt idx="10">
                  <c:v>Tax</c:v>
                </c:pt>
                <c:pt idx="11">
                  <c:v>Revenue</c:v>
                </c:pt>
                <c:pt idx="12">
                  <c:v>Depreciation</c:v>
                </c:pt>
                <c:pt idx="13">
                  <c:v>Opex</c:v>
                </c:pt>
                <c:pt idx="14">
                  <c:v>Revenue</c:v>
                </c:pt>
                <c:pt idx="15">
                  <c:v>Tax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1000000</c:v>
                </c:pt>
                <c:pt idx="1">
                  <c:v>-90000</c:v>
                </c:pt>
                <c:pt idx="2">
                  <c:v>-500000</c:v>
                </c:pt>
                <c:pt idx="3">
                  <c:v>-50000</c:v>
                </c:pt>
                <c:pt idx="4">
                  <c:v>-52000</c:v>
                </c:pt>
                <c:pt idx="5">
                  <c:v>-95000</c:v>
                </c:pt>
                <c:pt idx="6">
                  <c:v>1100000</c:v>
                </c:pt>
                <c:pt idx="7">
                  <c:v>-535000</c:v>
                </c:pt>
                <c:pt idx="8">
                  <c:v>-590000</c:v>
                </c:pt>
                <c:pt idx="9">
                  <c:v>-60000</c:v>
                </c:pt>
                <c:pt idx="10">
                  <c:v>-110000</c:v>
                </c:pt>
                <c:pt idx="11">
                  <c:v>1300000</c:v>
                </c:pt>
                <c:pt idx="12">
                  <c:v>-65000</c:v>
                </c:pt>
                <c:pt idx="13">
                  <c:v>-625000</c:v>
                </c:pt>
                <c:pt idx="14">
                  <c:v>1400000</c:v>
                </c:pt>
                <c:pt idx="15">
                  <c:v>-120000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</c:v>
                </c:pt>
              </c:strCache>
            </c:strRef>
          </c:tx>
          <c:cat>
            <c:strRef>
              <c:f>Sheet1!$A$2:$A$17</c:f>
              <c:strCache>
                <c:ptCount val="16"/>
                <c:pt idx="0">
                  <c:v>Revenue</c:v>
                </c:pt>
                <c:pt idx="1">
                  <c:v>Tax</c:v>
                </c:pt>
                <c:pt idx="2">
                  <c:v>Opex</c:v>
                </c:pt>
                <c:pt idx="3">
                  <c:v>Depreciation</c:v>
                </c:pt>
                <c:pt idx="4">
                  <c:v>Depreciation</c:v>
                </c:pt>
                <c:pt idx="5">
                  <c:v>Tax</c:v>
                </c:pt>
                <c:pt idx="6">
                  <c:v>Revenue</c:v>
                </c:pt>
                <c:pt idx="7">
                  <c:v>Opex</c:v>
                </c:pt>
                <c:pt idx="8">
                  <c:v>Opex</c:v>
                </c:pt>
                <c:pt idx="9">
                  <c:v>Depreciation</c:v>
                </c:pt>
                <c:pt idx="10">
                  <c:v>Tax</c:v>
                </c:pt>
                <c:pt idx="11">
                  <c:v>Revenue</c:v>
                </c:pt>
                <c:pt idx="12">
                  <c:v>Depreciation</c:v>
                </c:pt>
                <c:pt idx="13">
                  <c:v>Opex</c:v>
                </c:pt>
                <c:pt idx="14">
                  <c:v>Revenue</c:v>
                </c:pt>
                <c:pt idx="15">
                  <c:v>Tax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0.0</c:v>
                </c:pt>
                <c:pt idx="8">
                  <c:v>-565000.0</c:v>
                </c:pt>
                <c:pt idx="9">
                  <c:v>-58000.0</c:v>
                </c:pt>
                <c:pt idx="10">
                  <c:v>-105000.0</c:v>
                </c:pt>
                <c:pt idx="11">
                  <c:v>1250000.0</c:v>
                </c:pt>
                <c:pt idx="12">
                  <c:v>0.0</c:v>
                </c:pt>
                <c:pt idx="13">
                  <c:v>0.0</c:v>
                </c:pt>
                <c:pt idx="14">
                  <c:v>0.0</c:v>
                </c:pt>
                <c:pt idx="15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Opex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Q1 2025</c:v>
                </c:pt>
                <c:pt idx="3">
                  <c:v>Q2 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500000</c:v>
                </c:pt>
                <c:pt idx="1">
                  <c:v>535000</c:v>
                </c:pt>
                <c:pt idx="2">
                  <c:v>590000</c:v>
                </c:pt>
                <c:pt idx="3">
                  <c:v>625000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Depreciation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Q1 2025</c:v>
                </c:pt>
                <c:pt idx="3">
                  <c:v>Q2 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50000</c:v>
                </c:pt>
                <c:pt idx="1">
                  <c:v>52000</c:v>
                </c:pt>
                <c:pt idx="2">
                  <c:v>60000</c:v>
                </c:pt>
                <c:pt idx="3">
                  <c:v>65000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Tax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2024</c:v>
                </c:pt>
                <c:pt idx="1">
                  <c:v>Q2 2024</c:v>
                </c:pt>
                <c:pt idx="2">
                  <c:v>Q1 2025</c:v>
                </c:pt>
                <c:pt idx="3">
                  <c:v>Q2 2025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90000</c:v>
                </c:pt>
                <c:pt idx="1">
                  <c:v>95000</c:v>
                </c:pt>
                <c:pt idx="2">
                  <c:v>110000</c:v>
                </c:pt>
                <c:pt idx="3">
                  <c:v>120000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Product B</c:v>
                </c:pt>
                <c:pt idx="1">
                  <c:v>Product A</c:v>
                </c:pt>
                <c:pt idx="2">
                  <c:v>Product A</c:v>
                </c:pt>
                <c:pt idx="3">
                  <c:v>Product 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550000</c:v>
                </c:pt>
                <c:pt idx="1">
                  <c:v>750000</c:v>
                </c:pt>
                <c:pt idx="2">
                  <c:v>800000</c:v>
                </c:pt>
                <c:pt idx="3">
                  <c:v>600000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Product B</c:v>
                </c:pt>
                <c:pt idx="1">
                  <c:v>Product A</c:v>
                </c:pt>
                <c:pt idx="2">
                  <c:v>Product A</c:v>
                </c:pt>
                <c:pt idx="3">
                  <c:v>Product 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230000</c:v>
                </c:pt>
                <c:pt idx="1">
                  <c:v>330000</c:v>
                </c:pt>
                <c:pt idx="2">
                  <c:v>350000</c:v>
                </c:pt>
                <c:pt idx="3">
                  <c:v>250000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%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Product B</c:v>
                </c:pt>
                <c:pt idx="1">
                  <c:v>Product A</c:v>
                </c:pt>
                <c:pt idx="2">
                  <c:v>Product A</c:v>
                </c:pt>
                <c:pt idx="3">
                  <c:v>Product 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41.82</c:v>
                </c:pt>
                <c:pt idx="1">
                  <c:v>44.0</c:v>
                </c:pt>
                <c:pt idx="2">
                  <c:v>43.75</c:v>
                </c:pt>
                <c:pt idx="3">
                  <c:v>41.67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Product YOY Growth %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Product A</c:v>
                </c:pt>
                <c:pt idx="1">
                  <c:v>Product B</c:v>
                </c:pt>
                <c:pt idx="2">
                  <c:v>Product A</c:v>
                </c:pt>
                <c:pt idx="3">
                  <c:v>Product 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25.0</c:v>
                </c:pt>
                <c:pt idx="1">
                  <c:v>37.5</c:v>
                </c:pt>
                <c:pt idx="2">
                  <c:v>23.080000000000002</c:v>
                </c:pt>
                <c:pt idx="3">
                  <c:v>33.33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Spend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Supplier C</c:v>
                </c:pt>
                <c:pt idx="1">
                  <c:v>Supplier A</c:v>
                </c:pt>
                <c:pt idx="2">
                  <c:v>Supplier E</c:v>
                </c:pt>
                <c:pt idx="3">
                  <c:v>Supplier D</c:v>
                </c:pt>
                <c:pt idx="4">
                  <c:v>Supplier B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115000</c:v>
                </c:pt>
                <c:pt idx="1">
                  <c:v>100000</c:v>
                </c:pt>
                <c:pt idx="2">
                  <c:v>100000</c:v>
                </c:pt>
                <c:pt idx="3">
                  <c:v>80000</c:v>
                </c:pt>
                <c:pt idx="4">
                  <c:v>75000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Spend</c:v>
                </c:pt>
              </c:strCache>
            </c:strRef>
          </c:tx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2020-03</c:v>
                </c:pt>
                <c:pt idx="1">
                  <c:v>2020-05</c:v>
                </c:pt>
                <c:pt idx="2">
                  <c:v>2020-06</c:v>
                </c:pt>
                <c:pt idx="3">
                  <c:v>2020-07</c:v>
                </c:pt>
                <c:pt idx="4">
                  <c:v>2020-09</c:v>
                </c:pt>
                <c:pt idx="5">
                  <c:v>2021-03</c:v>
                </c:pt>
                <c:pt idx="6">
                  <c:v>2021-04</c:v>
                </c:pt>
                <c:pt idx="7">
                  <c:v>2021-05</c:v>
                </c:pt>
                <c:pt idx="8">
                  <c:v>2021-06</c:v>
                </c:pt>
                <c:pt idx="9">
                  <c:v>2021-08</c:v>
                </c:pt>
                <c:pt idx="10">
                  <c:v>2022-09</c:v>
                </c:pt>
                <c:pt idx="11">
                  <c:v>2022-10</c:v>
                </c:pt>
                <c:pt idx="12">
                  <c:v>2022-11</c:v>
                </c:pt>
                <c:pt idx="13">
                  <c:v>2022-12</c:v>
                </c:pt>
                <c:pt idx="14">
                  <c:v>2023-06</c:v>
                </c:pt>
                <c:pt idx="15">
                  <c:v>2023-07</c:v>
                </c:pt>
                <c:pt idx="16">
                  <c:v>2023-08</c:v>
                </c:pt>
                <c:pt idx="17">
                  <c:v>2023-11</c:v>
                </c:pt>
                <c:pt idx="18">
                  <c:v>2023-12</c:v>
                </c:pt>
                <c:pt idx="19">
                  <c:v>2024-01</c:v>
                </c:pt>
                <c:pt idx="20">
                  <c:v>2024-02</c:v>
                </c:pt>
                <c:pt idx="21">
                  <c:v>2024-03</c:v>
                </c:pt>
                <c:pt idx="22">
                  <c:v>2024-04</c:v>
                </c:pt>
                <c:pt idx="23">
                  <c:v>2024-05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19000</c:v>
                </c:pt>
                <c:pt idx="1">
                  <c:v>18000</c:v>
                </c:pt>
                <c:pt idx="2">
                  <c:v>18000</c:v>
                </c:pt>
                <c:pt idx="3">
                  <c:v>13000</c:v>
                </c:pt>
                <c:pt idx="4">
                  <c:v>14000</c:v>
                </c:pt>
                <c:pt idx="5">
                  <c:v>19000</c:v>
                </c:pt>
                <c:pt idx="6">
                  <c:v>14000</c:v>
                </c:pt>
                <c:pt idx="7">
                  <c:v>15000</c:v>
                </c:pt>
                <c:pt idx="8">
                  <c:v>21000</c:v>
                </c:pt>
                <c:pt idx="9">
                  <c:v>22000</c:v>
                </c:pt>
                <c:pt idx="10">
                  <c:v>16000</c:v>
                </c:pt>
                <c:pt idx="11">
                  <c:v>17000</c:v>
                </c:pt>
                <c:pt idx="12">
                  <c:v>38000</c:v>
                </c:pt>
                <c:pt idx="13">
                  <c:v>21000</c:v>
                </c:pt>
                <c:pt idx="14">
                  <c:v>30000</c:v>
                </c:pt>
                <c:pt idx="15">
                  <c:v>16000</c:v>
                </c:pt>
                <c:pt idx="16">
                  <c:v>17000</c:v>
                </c:pt>
                <c:pt idx="17">
                  <c:v>22000</c:v>
                </c:pt>
                <c:pt idx="18">
                  <c:v>22000</c:v>
                </c:pt>
                <c:pt idx="19">
                  <c:v>20000</c:v>
                </c:pt>
                <c:pt idx="20">
                  <c:v>15000</c:v>
                </c:pt>
                <c:pt idx="21">
                  <c:v>25000</c:v>
                </c:pt>
                <c:pt idx="22">
                  <c:v>18000</c:v>
                </c:pt>
                <c:pt idx="23">
                  <c:v>20000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Quarterly Spend</c:v>
                </c:pt>
              </c:strCache>
            </c:strRef>
          </c:tx>
          <c:cat>
            <c:strRef>
              <c:f>Sheet1!$A$2:$A$14</c:f>
              <c:strCache>
                <c:ptCount val="13"/>
                <c:pt idx="0">
                  <c:v>2020-Q1</c:v>
                </c:pt>
                <c:pt idx="1">
                  <c:v>2020-Q2</c:v>
                </c:pt>
                <c:pt idx="2">
                  <c:v>2020-Q3</c:v>
                </c:pt>
                <c:pt idx="3">
                  <c:v>2021-Q1</c:v>
                </c:pt>
                <c:pt idx="4">
                  <c:v>2021-Q2</c:v>
                </c:pt>
                <c:pt idx="5">
                  <c:v>2021-Q3</c:v>
                </c:pt>
                <c:pt idx="6">
                  <c:v>2022-Q3</c:v>
                </c:pt>
                <c:pt idx="7">
                  <c:v>2022-Q4</c:v>
                </c:pt>
                <c:pt idx="8">
                  <c:v>2023-Q2</c:v>
                </c:pt>
                <c:pt idx="9">
                  <c:v>2023-Q3</c:v>
                </c:pt>
                <c:pt idx="10">
                  <c:v>2023-Q4</c:v>
                </c:pt>
                <c:pt idx="11">
                  <c:v>2024-Q1</c:v>
                </c:pt>
                <c:pt idx="12">
                  <c:v>2024-Q2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19000</c:v>
                </c:pt>
                <c:pt idx="1">
                  <c:v>36000</c:v>
                </c:pt>
                <c:pt idx="2">
                  <c:v>27000</c:v>
                </c:pt>
                <c:pt idx="3">
                  <c:v>19000</c:v>
                </c:pt>
                <c:pt idx="4">
                  <c:v>50000</c:v>
                </c:pt>
                <c:pt idx="5">
                  <c:v>22000</c:v>
                </c:pt>
                <c:pt idx="6">
                  <c:v>16000</c:v>
                </c:pt>
                <c:pt idx="7">
                  <c:v>76000</c:v>
                </c:pt>
                <c:pt idx="8">
                  <c:v>30000</c:v>
                </c:pt>
                <c:pt idx="9">
                  <c:v>33000</c:v>
                </c:pt>
                <c:pt idx="10">
                  <c:v>44000</c:v>
                </c:pt>
                <c:pt idx="11">
                  <c:v>60000</c:v>
                </c:pt>
                <c:pt idx="12">
                  <c:v>38000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 %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Supplier A</c:v>
                </c:pt>
                <c:pt idx="1">
                  <c:v>Supplier B</c:v>
                </c:pt>
                <c:pt idx="2">
                  <c:v>Supplier C</c:v>
                </c:pt>
                <c:pt idx="3">
                  <c:v>Supplier D</c:v>
                </c:pt>
                <c:pt idx="4">
                  <c:v>Supplier 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21.27659574468085</c:v>
                </c:pt>
                <c:pt idx="1">
                  <c:v>15.957446808510639</c:v>
                </c:pt>
                <c:pt idx="2">
                  <c:v>24.46808510638298</c:v>
                </c:pt>
                <c:pt idx="3">
                  <c:v>17.02127659574468</c:v>
                </c:pt>
                <c:pt idx="4">
                  <c:v>21.27659574468085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Variance Amount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Depreciation</c:v>
                </c:pt>
                <c:pt idx="1">
                  <c:v>Opex</c:v>
                </c:pt>
                <c:pt idx="2">
                  <c:v>Revenue</c:v>
                </c:pt>
                <c:pt idx="3">
                  <c:v>Tax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-67000</c:v>
                </c:pt>
                <c:pt idx="1">
                  <c:v>-650000</c:v>
                </c:pt>
                <c:pt idx="2">
                  <c:v>1450000</c:v>
                </c:pt>
                <c:pt idx="3">
                  <c:v>-125000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Variance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Revenue Variance</c:v>
                </c:pt>
                <c:pt idx="1">
                  <c:v>Opex Variance</c:v>
                </c:pt>
                <c:pt idx="2">
                  <c:v>Depreciation Variance</c:v>
                </c:pt>
                <c:pt idx="3">
                  <c:v>Tax Variance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50000</c:v>
                </c:pt>
                <c:pt idx="1">
                  <c:v>-25000</c:v>
                </c:pt>
                <c:pt idx="2">
                  <c:v>-2000</c:v>
                </c:pt>
                <c:pt idx="3">
                  <c:v>-5000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Accrual Amount</c:v>
                </c:pt>
              </c:strCache>
            </c:strRef>
          </c:tx>
          <c:cat>
            <c:numRef>
              <c:f>Sheet1!$A$2:$A$4</c:f>
              <c:numCache>
                <c:formatCode>General</c:formatCode>
                <c:ptCount val="3"/>
                <c:pt idx="0">
                  <c:v>5001</c:v>
                </c:pt>
                <c:pt idx="1">
                  <c:v>5002</c:v>
                </c:pt>
                <c:pt idx="2">
                  <c:v>5003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23000</c:v>
                </c:pt>
                <c:pt idx="1">
                  <c:v>30000</c:v>
                </c:pt>
                <c:pt idx="2">
                  <c:v>12000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Circuit Amount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Dialog Telecom</c:v>
                </c:pt>
                <c:pt idx="1">
                  <c:v>Etisalat</c:v>
                </c:pt>
                <c:pt idx="2">
                  <c:v>Hutch Telecom</c:v>
                </c:pt>
                <c:pt idx="3">
                  <c:v>Mobitel</c:v>
                </c:pt>
                <c:pt idx="4">
                  <c:v>SLT Broadband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15000</c:v>
                </c:pt>
                <c:pt idx="1">
                  <c:v>8000</c:v>
                </c:pt>
                <c:pt idx="2">
                  <c:v>12000</c:v>
                </c:pt>
                <c:pt idx="3">
                  <c:v>20000</c:v>
                </c:pt>
                <c:pt idx="4">
                  <c:v>10000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FX Gain/Loss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Supplier A</c:v>
                </c:pt>
                <c:pt idx="1">
                  <c:v>Supplier B</c:v>
                </c:pt>
                <c:pt idx="2">
                  <c:v>Supplier C</c:v>
                </c:pt>
                <c:pt idx="3">
                  <c:v>Supplier D</c:v>
                </c:pt>
                <c:pt idx="4">
                  <c:v>Supplier 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4317250.0</c:v>
                </c:pt>
                <c:pt idx="1">
                  <c:v>3467600.0</c:v>
                </c:pt>
                <c:pt idx="2">
                  <c:v>6726150.0</c:v>
                </c:pt>
                <c:pt idx="3">
                  <c:v>4360800.0</c:v>
                </c:pt>
                <c:pt idx="4">
                  <c:v>4844000.0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FX Gain/Loss</c:v>
                </c:pt>
              </c:strCache>
            </c:strRef>
          </c:tx>
          <c:marker>
            <c:symbol val="none"/>
          </c:marker>
          <c:cat>
            <c:strRef>
              <c:f>Sheet1!$A$2:$A$30</c:f>
              <c:strCache>
                <c:ptCount val="29"/>
                <c:pt idx="0">
                  <c:v>2020-03</c:v>
                </c:pt>
                <c:pt idx="1">
                  <c:v>2020-05</c:v>
                </c:pt>
                <c:pt idx="2">
                  <c:v>2020-06</c:v>
                </c:pt>
                <c:pt idx="3">
                  <c:v>2020-07</c:v>
                </c:pt>
                <c:pt idx="4">
                  <c:v>2020-09</c:v>
                </c:pt>
                <c:pt idx="5">
                  <c:v>2021-03</c:v>
                </c:pt>
                <c:pt idx="6">
                  <c:v>2021-04</c:v>
                </c:pt>
                <c:pt idx="7">
                  <c:v>2021-05</c:v>
                </c:pt>
                <c:pt idx="8">
                  <c:v>2021-06</c:v>
                </c:pt>
                <c:pt idx="9">
                  <c:v>2021-08</c:v>
                </c:pt>
                <c:pt idx="10">
                  <c:v>2022-09</c:v>
                </c:pt>
                <c:pt idx="11">
                  <c:v>2022-10</c:v>
                </c:pt>
                <c:pt idx="12">
                  <c:v>2022-11</c:v>
                </c:pt>
                <c:pt idx="13">
                  <c:v>2022-12</c:v>
                </c:pt>
                <c:pt idx="14">
                  <c:v>2023-06</c:v>
                </c:pt>
                <c:pt idx="15">
                  <c:v>2023-07</c:v>
                </c:pt>
                <c:pt idx="16">
                  <c:v>2023-08</c:v>
                </c:pt>
                <c:pt idx="17">
                  <c:v>2023-11</c:v>
                </c:pt>
                <c:pt idx="18">
                  <c:v>2023-12</c:v>
                </c:pt>
                <c:pt idx="19">
                  <c:v>2024-01</c:v>
                </c:pt>
                <c:pt idx="20">
                  <c:v>2024-02</c:v>
                </c:pt>
                <c:pt idx="21">
                  <c:v>2024-03</c:v>
                </c:pt>
                <c:pt idx="22">
                  <c:v>2024-04</c:v>
                </c:pt>
                <c:pt idx="23">
                  <c:v>2024-05</c:v>
                </c:pt>
                <c:pt idx="24">
                  <c:v>2025-01</c:v>
                </c:pt>
                <c:pt idx="25">
                  <c:v>2025-02</c:v>
                </c:pt>
                <c:pt idx="26">
                  <c:v>2025-03</c:v>
                </c:pt>
                <c:pt idx="27">
                  <c:v>2025-04</c:v>
                </c:pt>
                <c:pt idx="28">
                  <c:v>2025-05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416000.0</c:v>
                </c:pt>
                <c:pt idx="6">
                  <c:v>358000.0</c:v>
                </c:pt>
                <c:pt idx="7">
                  <c:v>315000.0</c:v>
                </c:pt>
                <c:pt idx="8">
                  <c:v>847000.0</c:v>
                </c:pt>
                <c:pt idx="9">
                  <c:v>1246000.0</c:v>
                </c:pt>
                <c:pt idx="10">
                  <c:v>2932000.0</c:v>
                </c:pt>
                <c:pt idx="11">
                  <c:v>3160000.0</c:v>
                </c:pt>
                <c:pt idx="12">
                  <c:v>5179000.0</c:v>
                </c:pt>
                <c:pt idx="13">
                  <c:v>4075000.0</c:v>
                </c:pt>
                <c:pt idx="14">
                  <c:v>2200000.0</c:v>
                </c:pt>
                <c:pt idx="15">
                  <c:v>-1005000.0</c:v>
                </c:pt>
                <c:pt idx="16">
                  <c:v>-150000.0</c:v>
                </c:pt>
                <c:pt idx="17">
                  <c:v>-175000.0</c:v>
                </c:pt>
                <c:pt idx="18">
                  <c:v>1260000.0</c:v>
                </c:pt>
                <c:pt idx="19">
                  <c:v>-610000.0</c:v>
                </c:pt>
                <c:pt idx="20">
                  <c:v>-120000.0</c:v>
                </c:pt>
                <c:pt idx="21">
                  <c:v>-420000.0</c:v>
                </c:pt>
                <c:pt idx="22">
                  <c:v>1424000.0</c:v>
                </c:pt>
                <c:pt idx="23">
                  <c:v>-320000.0</c:v>
                </c:pt>
                <c:pt idx="24">
                  <c:v>465250.0</c:v>
                </c:pt>
                <c:pt idx="25">
                  <c:v>447600.0</c:v>
                </c:pt>
                <c:pt idx="26">
                  <c:v>876150.0</c:v>
                </c:pt>
                <c:pt idx="27">
                  <c:v>466800.0</c:v>
                </c:pt>
                <c:pt idx="28">
                  <c:v>848000.0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0-30 Days</c:v>
                </c:pt>
              </c:strCache>
            </c:strRef>
          </c:tx>
          <c:spPr>
            <a:solidFill>
              <a:srgbClr val="5B9BD5"/>
            </a:solidFill>
          </c:spPr>
          <c:cat>
            <c:strRef>
              <c:f>Sheet1!$A$2:$A$4</c:f>
              <c:strCache>
                <c:ptCount val="3"/>
                <c:pt idx="0">
                  <c:v>Airtel</c:v>
                </c:pt>
                <c:pt idx="1">
                  <c:v>Dialog</c:v>
                </c:pt>
                <c:pt idx="2">
                  <c:v>Mobitel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31-60 Days</c:v>
                </c:pt>
              </c:strCache>
            </c:strRef>
          </c:tx>
          <c:spPr>
            <a:solidFill>
              <a:srgbClr val="ED7D31"/>
            </a:solidFill>
          </c:spPr>
          <c:cat>
            <c:strRef>
              <c:f>Sheet1!$A$2:$A$4</c:f>
              <c:strCache>
                <c:ptCount val="3"/>
                <c:pt idx="0">
                  <c:v>Airtel</c:v>
                </c:pt>
                <c:pt idx="1">
                  <c:v>Dialog</c:v>
                </c:pt>
                <c:pt idx="2">
                  <c:v>Mobitel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61-90 Days</c:v>
                </c:pt>
              </c:strCache>
            </c:strRef>
          </c:tx>
          <c:spPr>
            <a:solidFill>
              <a:srgbClr val="A5A5A5"/>
            </a:solidFill>
          </c:spPr>
          <c:cat>
            <c:strRef>
              <c:f>Sheet1!$A$2:$A$4</c:f>
              <c:strCache>
                <c:ptCount val="3"/>
                <c:pt idx="0">
                  <c:v>Airtel</c:v>
                </c:pt>
                <c:pt idx="1">
                  <c:v>Dialog</c:v>
                </c:pt>
                <c:pt idx="2">
                  <c:v>Mobitel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90+ Days</c:v>
                </c:pt>
              </c:strCache>
            </c:strRef>
          </c:tx>
          <c:spPr>
            <a:solidFill>
              <a:srgbClr val="FFC000"/>
            </a:solidFill>
          </c:spPr>
          <c:cat>
            <c:strRef>
              <c:f>Sheet1!$A$2:$A$4</c:f>
              <c:strCache>
                <c:ptCount val="3"/>
                <c:pt idx="0">
                  <c:v>Airtel</c:v>
                </c:pt>
                <c:pt idx="1">
                  <c:v>Dialog</c:v>
                </c:pt>
                <c:pt idx="2">
                  <c:v>Mobitel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-2000</c:v>
                </c:pt>
                <c:pt idx="1">
                  <c:v>7000</c:v>
                </c:pt>
                <c:pt idx="2">
                  <c:v>10000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Capitalized Value</c:v>
                </c:pt>
              </c:strCache>
            </c:strRef>
          </c:tx>
          <c:dPt>
            <c:idx val="0"/>
            <c:spPr>
              <a:solidFill>
                <a:srgbClr val="5B9BD5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cat>
            <c:strRef>
              <c:f>Sheet1!$A$2:$A$4</c:f>
              <c:strCache>
                <c:ptCount val="3"/>
                <c:pt idx="0">
                  <c:v>Laptop</c:v>
                </c:pt>
                <c:pt idx="1">
                  <c:v>Router</c:v>
                </c:pt>
                <c:pt idx="2">
                  <c:v>Printer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750000.0</c:v>
                </c:pt>
                <c:pt idx="1">
                  <c:v>150000.0</c:v>
                </c:pt>
                <c:pt idx="2">
                  <c:v>160000.0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Quantity</c:v>
                </c:pt>
              </c:strCache>
            </c:strRef>
          </c:tx>
          <c:dPt>
            <c:idx val="0"/>
            <c:spPr>
              <a:solidFill>
                <a:srgbClr val="5B9BD5"/>
              </a:solidFill>
            </c:spPr>
          </c:dPt>
          <c:dPt>
            <c:idx val="1"/>
            <c:spPr>
              <a:solidFill>
                <a:srgbClr val="ED7D31"/>
              </a:solidFill>
            </c:spPr>
          </c:dPt>
          <c:dPt>
            <c:idx val="2"/>
            <c:spPr>
              <a:solidFill>
                <a:srgbClr val="A5A5A5"/>
              </a:solidFill>
            </c:spPr>
          </c:dPt>
          <c:cat>
            <c:strRef>
              <c:f>Sheet1!$A$2:$A$4</c:f>
              <c:strCache>
                <c:ptCount val="3"/>
                <c:pt idx="0">
                  <c:v>Laptop</c:v>
                </c:pt>
                <c:pt idx="1">
                  <c:v>Router</c:v>
                </c:pt>
                <c:pt idx="2">
                  <c:v>Printer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Depreciation</c:v>
                </c:pt>
              </c:strCache>
            </c:strRef>
          </c:tx>
          <c:dPt>
            <c:idx val="0"/>
            <c:spPr>
              <a:solidFill>
                <a:srgbClr val="5B9BD5"/>
              </a:solidFill>
            </c:spPr>
          </c:dPt>
          <c:dPt>
            <c:idx val="1"/>
            <c:spPr>
              <a:solidFill>
                <a:srgbClr val="5B9BD5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5B9BD5"/>
              </a:solidFill>
            </c:spPr>
          </c:dPt>
          <c:dPt>
            <c:idx val="4"/>
            <c:spPr>
              <a:solidFill>
                <a:srgbClr val="5B9BD5"/>
              </a:solidFill>
            </c:spPr>
          </c:dPt>
          <c:dPt>
            <c:idx val="5"/>
            <c:spPr>
              <a:solidFill>
                <a:srgbClr val="5B9BD5"/>
              </a:solidFill>
            </c:spPr>
          </c:dPt>
          <c:dPt>
            <c:idx val="6"/>
            <c:spPr>
              <a:solidFill>
                <a:srgbClr val="5B9BD5"/>
              </a:solidFill>
            </c:spPr>
          </c:dPt>
          <c:dPt>
            <c:idx val="7"/>
            <c:spPr>
              <a:solidFill>
                <a:srgbClr val="5B9BD5"/>
              </a:solidFill>
            </c:spPr>
          </c:dPt>
          <c:dPt>
            <c:idx val="8"/>
            <c:spPr>
              <a:solidFill>
                <a:srgbClr val="5B9BD5"/>
              </a:solidFill>
            </c:spPr>
          </c:dPt>
          <c:dPt>
            <c:idx val="9"/>
            <c:spPr>
              <a:solidFill>
                <a:srgbClr val="5B9BD5"/>
              </a:solidFill>
            </c:spPr>
          </c:dPt>
          <c:cat>
            <c:strRef>
              <c:f>Sheet1!$A$2:$A$11</c:f>
              <c:strCache>
                <c:ptCount val="10"/>
                <c:pt idx="0">
                  <c:v>Laptop-1</c:v>
                </c:pt>
                <c:pt idx="1">
                  <c:v>Laptop-2</c:v>
                </c:pt>
                <c:pt idx="2">
                  <c:v>Laptop-3</c:v>
                </c:pt>
                <c:pt idx="3">
                  <c:v>Laptop-4</c:v>
                </c:pt>
                <c:pt idx="4">
                  <c:v>Laptop-5</c:v>
                </c:pt>
                <c:pt idx="5">
                  <c:v>Router-1</c:v>
                </c:pt>
                <c:pt idx="6">
                  <c:v>Router-2</c:v>
                </c:pt>
                <c:pt idx="7">
                  <c:v>Router-3</c:v>
                </c:pt>
                <c:pt idx="8">
                  <c:v>Printer-1</c:v>
                </c:pt>
                <c:pt idx="9">
                  <c:v>Printer-2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50000.0</c:v>
                </c:pt>
                <c:pt idx="1">
                  <c:v>50000.0</c:v>
                </c:pt>
                <c:pt idx="2">
                  <c:v>50000.0</c:v>
                </c:pt>
                <c:pt idx="3">
                  <c:v>50000.0</c:v>
                </c:pt>
                <c:pt idx="4">
                  <c:v>50000.0</c:v>
                </c:pt>
                <c:pt idx="5">
                  <c:v>10000.0</c:v>
                </c:pt>
                <c:pt idx="6">
                  <c:v>10000.0</c:v>
                </c:pt>
                <c:pt idx="7">
                  <c:v>10000.0</c:v>
                </c:pt>
                <c:pt idx="8">
                  <c:v>20000.0</c:v>
                </c:pt>
                <c:pt idx="9">
                  <c:v>20000.0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 Actual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Sales Revenue</c:v>
                </c:pt>
                <c:pt idx="1">
                  <c:v>Salaries</c:v>
                </c:pt>
                <c:pt idx="2">
                  <c:v>Marketing</c:v>
                </c:pt>
                <c:pt idx="3">
                  <c:v>Rent</c:v>
                </c:pt>
                <c:pt idx="4">
                  <c:v>Depreciation</c:v>
                </c:pt>
                <c:pt idx="5">
                  <c:v>Tax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2700000</c:v>
                </c:pt>
                <c:pt idx="1">
                  <c:v>-720000</c:v>
                </c:pt>
                <c:pt idx="2">
                  <c:v>-310000</c:v>
                </c:pt>
                <c:pt idx="3">
                  <c:v>-185000</c:v>
                </c:pt>
                <c:pt idx="4">
                  <c:v>-125000</c:v>
                </c:pt>
                <c:pt idx="5">
                  <c:v>-230000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Actual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Sales Revenue</c:v>
                </c:pt>
                <c:pt idx="1">
                  <c:v>Salaries</c:v>
                </c:pt>
                <c:pt idx="2">
                  <c:v>Marketing</c:v>
                </c:pt>
                <c:pt idx="3">
                  <c:v>Rent</c:v>
                </c:pt>
                <c:pt idx="4">
                  <c:v>Depreciation</c:v>
                </c:pt>
                <c:pt idx="5">
                  <c:v>Tax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Growth Rate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Sales Revenue</c:v>
                </c:pt>
                <c:pt idx="1">
                  <c:v>Salaries</c:v>
                </c:pt>
                <c:pt idx="2">
                  <c:v>Marketing</c:v>
                </c:pt>
                <c:pt idx="3">
                  <c:v>Rent</c:v>
                </c:pt>
                <c:pt idx="4">
                  <c:v>Depreciation</c:v>
                </c:pt>
                <c:pt idx="5">
                  <c:v>Tax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</c:v>
                </c:pt>
                <c:pt idx="1">
                  <c:v>0.04</c:v>
                </c:pt>
                <c:pt idx="2">
                  <c:v>0.06</c:v>
                </c:pt>
                <c:pt idx="3">
                  <c:v>0.02</c:v>
                </c:pt>
                <c:pt idx="4">
                  <c:v>0.03</c:v>
                </c:pt>
                <c:pt idx="5">
                  <c:v>0.05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Forecast 2027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Sales Revenue</c:v>
                </c:pt>
                <c:pt idx="1">
                  <c:v>Salaries</c:v>
                </c:pt>
                <c:pt idx="2">
                  <c:v>Marketing</c:v>
                </c:pt>
                <c:pt idx="3">
                  <c:v>Rent</c:v>
                </c:pt>
                <c:pt idx="4">
                  <c:v>Depreciation</c:v>
                </c:pt>
                <c:pt idx="5">
                  <c:v>Tax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2835000</c:v>
                </c:pt>
                <c:pt idx="1">
                  <c:v>-756000</c:v>
                </c:pt>
                <c:pt idx="2">
                  <c:v>-325500</c:v>
                </c:pt>
                <c:pt idx="3">
                  <c:v>-194250</c:v>
                </c:pt>
                <c:pt idx="4">
                  <c:v>-131250</c:v>
                </c:pt>
                <c:pt idx="5">
                  <c:v>-241500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2025</c:v>
                </c:pt>
                <c:pt idx="1">
                  <c:v>2027 Forecast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2700000</c:v>
                </c:pt>
                <c:pt idx="1">
                  <c:v>2835000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Expenses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2025</c:v>
                </c:pt>
                <c:pt idx="1">
                  <c:v>2027 Forecast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-1570000</c:v>
                </c:pt>
                <c:pt idx="1">
                  <c:v>-1648500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Profit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2025</c:v>
                </c:pt>
                <c:pt idx="1">
                  <c:v>2027 Forecast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4270000</c:v>
                </c:pt>
                <c:pt idx="1">
                  <c:v>4483500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 Expense</c:v>
                </c:pt>
              </c:strCache>
            </c:strRef>
          </c:tx>
          <c:spPr>
            <a:solidFill>
              <a:srgbClr val="5B9BD5"/>
            </a:solidFill>
          </c:spPr>
          <c:dLbls>
            <c:numFmt formatCode="#,##0" sourceLinked="0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1 - Marketing</c:v>
                </c:pt>
                <c:pt idx="1">
                  <c:v>2 - Marketing</c:v>
                </c:pt>
                <c:pt idx="2">
                  <c:v>3 - Marketing</c:v>
                </c:pt>
                <c:pt idx="3">
                  <c:v>1 - Rent</c:v>
                </c:pt>
                <c:pt idx="4">
                  <c:v>2 - Rent</c:v>
                </c:pt>
                <c:pt idx="5">
                  <c:v>3 - Rent</c:v>
                </c:pt>
                <c:pt idx="6">
                  <c:v>1 - Salaries</c:v>
                </c:pt>
                <c:pt idx="7">
                  <c:v>2 - Salaries</c:v>
                </c:pt>
                <c:pt idx="8">
                  <c:v>3 - Salaries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120000</c:v>
                </c:pt>
                <c:pt idx="1">
                  <c:v>120000</c:v>
                </c:pt>
                <c:pt idx="2">
                  <c:v>140000</c:v>
                </c:pt>
                <c:pt idx="3">
                  <c:v>80000</c:v>
                </c:pt>
                <c:pt idx="4">
                  <c:v>80000</c:v>
                </c:pt>
                <c:pt idx="5">
                  <c:v>80000</c:v>
                </c:pt>
                <c:pt idx="6">
                  <c:v>300000</c:v>
                </c:pt>
                <c:pt idx="7">
                  <c:v>310000</c:v>
                </c:pt>
                <c:pt idx="8">
                  <c:v>320000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Monthly Variance</c:v>
                </c:pt>
              </c:strCache>
            </c:strRef>
          </c:tx>
          <c:spPr>
            <a:solidFill>
              <a:srgbClr val="ED7D31"/>
            </a:solidFill>
          </c:spPr>
          <c:dLbls>
            <c:numFmt formatCode="#,##0" sourceLinked="0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1 - Marketing</c:v>
                </c:pt>
                <c:pt idx="1">
                  <c:v>2 - Marketing</c:v>
                </c:pt>
                <c:pt idx="2">
                  <c:v>3 - Marketing</c:v>
                </c:pt>
                <c:pt idx="3">
                  <c:v>1 - Rent</c:v>
                </c:pt>
                <c:pt idx="4">
                  <c:v>2 - Rent</c:v>
                </c:pt>
                <c:pt idx="5">
                  <c:v>3 - Rent</c:v>
                </c:pt>
                <c:pt idx="6">
                  <c:v>1 - Salaries</c:v>
                </c:pt>
                <c:pt idx="7">
                  <c:v>2 - Salaries</c:v>
                </c:pt>
                <c:pt idx="8">
                  <c:v>3 - Salaries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0.0</c:v>
                </c:pt>
                <c:pt idx="1">
                  <c:v>0.0</c:v>
                </c:pt>
                <c:pt idx="2">
                  <c:v>20000.0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</c:v>
                </c:pt>
                <c:pt idx="7">
                  <c:v>10000.0</c:v>
                </c:pt>
                <c:pt idx="8">
                  <c:v>10000.0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Total Expense</c:v>
                </c:pt>
              </c:strCache>
            </c:strRef>
          </c:tx>
          <c:spPr>
            <a:ln w="45720">
              <a:solidFill>
                <a:srgbClr val="4472C4"/>
              </a:solidFill>
            </a:ln>
          </c:spPr>
          <c:marker>
            <c:symbol val="diamond"/>
            <c:size val="7"/>
          </c:marker>
          <c:dLbls>
            <c:numFmt formatCode="#,##0" sourceLinked="0"/>
            <c:txPr>
              <a:bodyPr/>
              <a:lstStyle/>
              <a:p>
                <a:pPr>
                  <a:defRPr sz="864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500000</c:v>
                </c:pt>
                <c:pt idx="1">
                  <c:v>510000</c:v>
                </c:pt>
                <c:pt idx="2">
                  <c:v>540000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System Entries (Normal)</c:v>
                </c:pt>
              </c:strCache>
            </c:strRef>
          </c:tx>
          <c:spPr>
            <a:solidFill>
              <a:srgbClr val="A5A5A5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500000.0</c:v>
                </c:pt>
                <c:pt idx="1">
                  <c:v>490000.0</c:v>
                </c:pt>
                <c:pt idx="2">
                  <c:v>540000.0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Incl. Journals</c:v>
                </c:pt>
              </c:strCache>
            </c:strRef>
          </c:tx>
          <c:spPr>
            <a:solidFill>
              <a:srgbClr val="5B9BD5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500000.0</c:v>
                </c:pt>
                <c:pt idx="1">
                  <c:v>510000.0</c:v>
                </c:pt>
                <c:pt idx="2">
                  <c:v>540000.0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Adjustment Impact</c:v>
                </c:pt>
              </c:strCache>
            </c:strRef>
          </c:tx>
          <c:spPr>
            <a:solidFill>
              <a:srgbClr val="FFC000"/>
            </a:solidFill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0.0</c:v>
                </c:pt>
                <c:pt idx="1">
                  <c:v>20000.0</c:v>
                </c:pt>
                <c:pt idx="2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Building</c:v>
                </c:pt>
              </c:strCache>
            </c:strRef>
          </c:tx>
          <c:dLbls>
            <c:numFmt formatCode="#,##0" sourceLinked="0"/>
            <c:txPr>
              <a:bodyPr/>
              <a:lstStyle/>
              <a:p>
                <a:pPr>
                  <a:defRPr sz="800"/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2026-03-01</c:v>
                </c:pt>
                <c:pt idx="1">
                  <c:v>2026-04-01</c:v>
                </c:pt>
                <c:pt idx="2">
                  <c:v>2026-05-01</c:v>
                </c:pt>
                <c:pt idx="3">
                  <c:v>2026-06-01</c:v>
                </c:pt>
                <c:pt idx="4">
                  <c:v>2026-07-01</c:v>
                </c:pt>
                <c:pt idx="5">
                  <c:v>2026-08-01</c:v>
                </c:pt>
                <c:pt idx="6">
                  <c:v>2026-09-01</c:v>
                </c:pt>
                <c:pt idx="7">
                  <c:v>2026-10-01</c:v>
                </c:pt>
                <c:pt idx="8">
                  <c:v>2026-11-01</c:v>
                </c:pt>
                <c:pt idx="9">
                  <c:v>2026-12-01</c:v>
                </c:pt>
                <c:pt idx="10">
                  <c:v>2027-01-01</c:v>
                </c:pt>
                <c:pt idx="11">
                  <c:v>2027-02-01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10000.0</c:v>
                </c:pt>
                <c:pt idx="5">
                  <c:v>10000.0</c:v>
                </c:pt>
                <c:pt idx="6">
                  <c:v>10000.0</c:v>
                </c:pt>
                <c:pt idx="7">
                  <c:v>10000.0</c:v>
                </c:pt>
                <c:pt idx="8">
                  <c:v>10000.0</c:v>
                </c:pt>
                <c:pt idx="9">
                  <c:v>10000.0</c:v>
                </c:pt>
                <c:pt idx="10">
                  <c:v>10000.0</c:v>
                </c:pt>
                <c:pt idx="11">
                  <c:v>10000.0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Furniture</c:v>
                </c:pt>
              </c:strCache>
            </c:strRef>
          </c:tx>
          <c:dLbls>
            <c:numFmt formatCode="#,##0" sourceLinked="0"/>
            <c:txPr>
              <a:bodyPr/>
              <a:lstStyle/>
              <a:p>
                <a:pPr>
                  <a:defRPr sz="800"/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2026-03-01</c:v>
                </c:pt>
                <c:pt idx="1">
                  <c:v>2026-04-01</c:v>
                </c:pt>
                <c:pt idx="2">
                  <c:v>2026-05-01</c:v>
                </c:pt>
                <c:pt idx="3">
                  <c:v>2026-06-01</c:v>
                </c:pt>
                <c:pt idx="4">
                  <c:v>2026-07-01</c:v>
                </c:pt>
                <c:pt idx="5">
                  <c:v>2026-08-01</c:v>
                </c:pt>
                <c:pt idx="6">
                  <c:v>2026-09-01</c:v>
                </c:pt>
                <c:pt idx="7">
                  <c:v>2026-10-01</c:v>
                </c:pt>
                <c:pt idx="8">
                  <c:v>2026-11-01</c:v>
                </c:pt>
                <c:pt idx="9">
                  <c:v>2026-12-01</c:v>
                </c:pt>
                <c:pt idx="10">
                  <c:v>2027-01-01</c:v>
                </c:pt>
                <c:pt idx="11">
                  <c:v>2027-02-01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4166.666666666666</c:v>
                </c:pt>
                <c:pt idx="1">
                  <c:v>4166.666666666666</c:v>
                </c:pt>
                <c:pt idx="2">
                  <c:v>4166.666666666666</c:v>
                </c:pt>
                <c:pt idx="3">
                  <c:v>4166.666666666666</c:v>
                </c:pt>
                <c:pt idx="4">
                  <c:v>4166.666666666666</c:v>
                </c:pt>
                <c:pt idx="5">
                  <c:v>4166.666666666666</c:v>
                </c:pt>
                <c:pt idx="6">
                  <c:v>4166.666666666666</c:v>
                </c:pt>
                <c:pt idx="7">
                  <c:v>4166.666666666666</c:v>
                </c:pt>
                <c:pt idx="8">
                  <c:v>4166.666666666666</c:v>
                </c:pt>
                <c:pt idx="9">
                  <c:v>4166.666666666666</c:v>
                </c:pt>
                <c:pt idx="10">
                  <c:v>4166.666666666666</c:v>
                </c:pt>
                <c:pt idx="11">
                  <c:v>4166.666666666666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IT</c:v>
                </c:pt>
              </c:strCache>
            </c:strRef>
          </c:tx>
          <c:dLbls>
            <c:numFmt formatCode="#,##0" sourceLinked="0"/>
            <c:txPr>
              <a:bodyPr/>
              <a:lstStyle/>
              <a:p>
                <a:pPr>
                  <a:defRPr sz="800"/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2026-03-01</c:v>
                </c:pt>
                <c:pt idx="1">
                  <c:v>2026-04-01</c:v>
                </c:pt>
                <c:pt idx="2">
                  <c:v>2026-05-01</c:v>
                </c:pt>
                <c:pt idx="3">
                  <c:v>2026-06-01</c:v>
                </c:pt>
                <c:pt idx="4">
                  <c:v>2026-07-01</c:v>
                </c:pt>
                <c:pt idx="5">
                  <c:v>2026-08-01</c:v>
                </c:pt>
                <c:pt idx="6">
                  <c:v>2026-09-01</c:v>
                </c:pt>
                <c:pt idx="7">
                  <c:v>2026-10-01</c:v>
                </c:pt>
                <c:pt idx="8">
                  <c:v>2026-11-01</c:v>
                </c:pt>
                <c:pt idx="9">
                  <c:v>2026-12-01</c:v>
                </c:pt>
                <c:pt idx="10">
                  <c:v>2027-01-01</c:v>
                </c:pt>
                <c:pt idx="11">
                  <c:v>2027-02-01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23333.333333333332</c:v>
                </c:pt>
                <c:pt idx="1">
                  <c:v>23333.333333333332</c:v>
                </c:pt>
                <c:pt idx="2">
                  <c:v>33750.0</c:v>
                </c:pt>
                <c:pt idx="3">
                  <c:v>33750.0</c:v>
                </c:pt>
                <c:pt idx="4">
                  <c:v>33750.0</c:v>
                </c:pt>
                <c:pt idx="5">
                  <c:v>33750.0</c:v>
                </c:pt>
                <c:pt idx="6">
                  <c:v>33750.0</c:v>
                </c:pt>
                <c:pt idx="7">
                  <c:v>33750.0</c:v>
                </c:pt>
                <c:pt idx="8">
                  <c:v>33750.0</c:v>
                </c:pt>
                <c:pt idx="9">
                  <c:v>33750.0</c:v>
                </c:pt>
                <c:pt idx="10">
                  <c:v>25416.666666666664</c:v>
                </c:pt>
                <c:pt idx="11">
                  <c:v>25416.666666666664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Transport</c:v>
                </c:pt>
              </c:strCache>
            </c:strRef>
          </c:tx>
          <c:dLbls>
            <c:numFmt formatCode="#,##0" sourceLinked="0"/>
            <c:txPr>
              <a:bodyPr/>
              <a:lstStyle/>
              <a:p>
                <a:pPr>
                  <a:defRPr sz="800"/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2026-03-01</c:v>
                </c:pt>
                <c:pt idx="1">
                  <c:v>2026-04-01</c:v>
                </c:pt>
                <c:pt idx="2">
                  <c:v>2026-05-01</c:v>
                </c:pt>
                <c:pt idx="3">
                  <c:v>2026-06-01</c:v>
                </c:pt>
                <c:pt idx="4">
                  <c:v>2026-07-01</c:v>
                </c:pt>
                <c:pt idx="5">
                  <c:v>2026-08-01</c:v>
                </c:pt>
                <c:pt idx="6">
                  <c:v>2026-09-01</c:v>
                </c:pt>
                <c:pt idx="7">
                  <c:v>2026-10-01</c:v>
                </c:pt>
                <c:pt idx="8">
                  <c:v>2026-11-01</c:v>
                </c:pt>
                <c:pt idx="9">
                  <c:v>2026-12-01</c:v>
                </c:pt>
                <c:pt idx="10">
                  <c:v>2027-01-01</c:v>
                </c:pt>
                <c:pt idx="11">
                  <c:v>2027-02-01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41666.666666666664</c:v>
                </c:pt>
                <c:pt idx="1">
                  <c:v>41666.666666666664</c:v>
                </c:pt>
                <c:pt idx="2">
                  <c:v>41666.666666666664</c:v>
                </c:pt>
                <c:pt idx="3">
                  <c:v>41666.666666666664</c:v>
                </c:pt>
                <c:pt idx="4">
                  <c:v>41666.666666666664</c:v>
                </c:pt>
                <c:pt idx="5">
                  <c:v>41666.666666666664</c:v>
                </c:pt>
                <c:pt idx="6">
                  <c:v>41666.666666666664</c:v>
                </c:pt>
                <c:pt idx="7">
                  <c:v>41666.666666666664</c:v>
                </c:pt>
                <c:pt idx="8">
                  <c:v>41666.666666666664</c:v>
                </c:pt>
                <c:pt idx="9">
                  <c:v>41666.666666666664</c:v>
                </c:pt>
                <c:pt idx="10">
                  <c:v>41666.666666666664</c:v>
                </c:pt>
                <c:pt idx="11">
                  <c:v>41666.666666666664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CWIP Amount</c:v>
                </c:pt>
              </c:strCache>
            </c:strRef>
          </c:tx>
          <c:dLbls>
            <c:txPr>
              <a:bodyPr/>
              <a:lstStyle/>
              <a:p>
                <a:pPr>
                  <a:defRPr sz="10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IT</c:v>
                </c:pt>
                <c:pt idx="1">
                  <c:v>Building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500000.0</c:v>
                </c:pt>
                <c:pt idx="1">
                  <c:v>1200000.0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5.xml"/><Relationship Id="rId3" Type="http://schemas.openxmlformats.org/officeDocument/2006/relationships/chart" Target="../charts/chart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7.xml"/><Relationship Id="rId3" Type="http://schemas.openxmlformats.org/officeDocument/2006/relationships/chart" Target="../charts/chart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 Financial Pack - FY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Revenue &amp; Profit Trend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Year Over Year Growth %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Budget vs Actual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Expense Breakdown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YTD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YTD Revenue: 2,100,000.00</a:t>
            </a:r>
          </a:p>
          <a:p>
            <a:r>
              <a:t>YTD EBITDA: 1,065,000.00</a:t>
            </a:r>
          </a:p>
          <a:p>
            <a:r>
              <a:t>YTD Operating Profit: 963,000.00</a:t>
            </a:r>
          </a:p>
          <a:p>
            <a:r>
              <a:t>YTD Profit After Tax: 778,000.00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Product Revenue Comparison - 2025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Product Profit Comparison - 2025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Product Profit Margin % - 2025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Product YOY Revenue Growth % - 2025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Top 5 Suppliers - 5 Year Advertising Spend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Total Advertising Expenditure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Total 5-Year Advertising Spend: 470,000.00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Monthly Advertising Trend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Quarterly Advertising Trend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Supplier Contribution %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828800" y="914400"/>
          <a:ext cx="5486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Year 2025 Variance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2025 Variance Waterfall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Accrual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Total Accrual Amount: 65,000</a:t>
            </a:r>
          </a:p>
          <a:p>
            <a:r>
              <a:t>Total Expense Amount: 470,000</a:t>
            </a:r>
          </a:p>
          <a:p>
            <a:r>
              <a:t>Accrual % of Total Expense: 13.83%</a:t>
            </a:r>
          </a:p>
          <a:p>
            <a:r>
              <a:t>Top 5 Suppliers by Accrual:</a:t>
            </a:r>
          </a:p>
          <a:p>
            <a:r>
              <a:t>Mobitel: 20,000</a:t>
            </a:r>
          </a:p>
          <a:p>
            <a:r>
              <a:t>Dialog Telecom: 15,000</a:t>
            </a:r>
          </a:p>
          <a:p>
            <a:r>
              <a:t>Hutch Telecom: 12,000</a:t>
            </a:r>
          </a:p>
          <a:p>
            <a:r>
              <a:t>SLT Broadband: 10,000</a:t>
            </a:r>
          </a:p>
          <a:p>
            <a:r>
              <a:t>Etisalat: 8,000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Accrual / Circuit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Total Accrual: 65,000</a:t>
            </a:r>
          </a:p>
          <a:p>
            <a:r>
              <a:t>Total Circuit Amount: 65,000</a:t>
            </a:r>
          </a:p>
          <a:p>
            <a:r>
              <a:t>Accrual %: 13.83%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2743200"/>
          <a:ext cx="36576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0" y="2743200"/>
          <a:ext cx="365760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FX Revaluation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Total Balance (LKR): 178,927,800</a:t>
            </a:r>
          </a:p>
          <a:p>
            <a:r>
              <a:t>Total FX Revaluation Gain/Loss: 23,715,800</a:t>
            </a:r>
          </a:p>
          <a:p>
            <a:r>
              <a:t>Top 5 Suppliers by FX Gain/Loss:</a:t>
            </a:r>
          </a:p>
          <a:p>
            <a:r>
              <a:t>Supplier C: 6,726,150</a:t>
            </a:r>
          </a:p>
          <a:p>
            <a:r>
              <a:t>Supplier E: 4,844,000</a:t>
            </a:r>
          </a:p>
          <a:p>
            <a:r>
              <a:t>Supplier D: 4,360,800</a:t>
            </a:r>
          </a:p>
          <a:p>
            <a:r>
              <a:t>Supplier A: 4,317,250</a:t>
            </a:r>
          </a:p>
          <a:p>
            <a:r>
              <a:t>Supplier B: 3,467,600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3200400"/>
          <a:ext cx="384048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754880" y="3200400"/>
          <a:ext cx="384048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Net Debtor Aging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Debtor Aging Summary per Operator</a:t>
            </a:r>
          </a:p>
          <a:p>
            <a:r>
              <a:t>Airtel: 0-30 Days: 0, 31-60 Days: 0, 61-90 Days: 0, 90+ Days: -2,000</a:t>
            </a:r>
          </a:p>
          <a:p>
            <a:r>
              <a:t>Dialog: 0-30 Days: 0, 31-60 Days: 0, 61-90 Days: 0, 90+ Days: 7,000</a:t>
            </a:r>
          </a:p>
          <a:p>
            <a:r>
              <a:t>Mobitel: 0-30 Days: 0, 31-60 Days: 0, 61-90 Days: 0, 90+ Days: 10,000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27432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Asset Capitalization by Asset Group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 Assets by Asset Group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Annual Depreciation per Asset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Actuals Comparison (2025 vs 2026)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Trend Analysis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Forecast 2027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vs Expense vs Profit 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Monthly Expense Variance by Account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097280"/>
          <a:ext cx="8229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Overall Monthly Expense Trend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Journal Entry Impact Analysis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Monthly Depreciation Forecast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CWIP Value by Asset Group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828800" y="1371600"/>
          <a:ext cx="5486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